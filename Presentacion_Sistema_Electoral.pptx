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Poppins Light"/>
      <p:regular r:id="rId201314"/>
    </p:embeddedFont>
    <p:embeddedFont>
      <p:font typeface="Poppins"/>
      <p:regular r:id="rId201315"/>
    </p:embeddedFont>
    <p:embeddedFont>
      <p:font typeface="Roboto Light"/>
      <p:regular r:id="rId201316"/>
    </p:embeddedFont>
    <p:embeddedFont>
      <p:font typeface="Roboto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720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DEMOCRACIA DIGITAL INVIOLABLE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718719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Plataforma de Votación Digital Segura con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Aislamiento Criptográfico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Cero Rastro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169370"/>
            <a:ext cx="712373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4218980"/>
            <a:ext cx="112352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SHA-256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28380" y="4169370"/>
            <a:ext cx="772994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8" name="Text 5"/>
          <p:cNvSpPr/>
          <p:nvPr/>
        </p:nvSpPr>
        <p:spPr>
          <a:xfrm>
            <a:off x="6127597" y="4218980"/>
            <a:ext cx="118414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2FA TOTP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84022" y="4169370"/>
            <a:ext cx="971724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F2F2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83238" y="4218980"/>
            <a:ext cx="138287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ZERO-TRUST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38393" y="4169370"/>
            <a:ext cx="613157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F2F2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37609" y="4218980"/>
            <a:ext cx="102430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CLOUD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20824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 Falacia de los Sistemas de Votación Convencionales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002334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legitimidad de una elección no se promete;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 demuestra con datos inmutables.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Los sistemas tradicionales presentan tres vulnerabilidades críticas que comprometen la integridad del proceso electoral.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982218"/>
            <a:ext cx="3065783" cy="1759446"/>
          </a:xfrm>
          <a:prstGeom prst="roundRect">
            <a:avLst>
              <a:gd name="adj" fmla="val 394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005" y="3153866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Falso Anonimato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05005" y="3511550"/>
            <a:ext cx="27224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Los administradores de bases de datos convencionales pueden saber quién votó por quién, rompiendo el secreto del voto.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64437" y="2982218"/>
            <a:ext cx="3065783" cy="1759446"/>
          </a:xfrm>
          <a:prstGeom prst="roundRect">
            <a:avLst>
              <a:gd name="adj" fmla="val 394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6082" y="3153866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Vulnerabilidad de Acceso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36082" y="3511550"/>
            <a:ext cx="27224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Enlaces por correo o claves estáticas facilitan la suplantación de identidad de votantes legítimos.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906963"/>
            <a:ext cx="6296860" cy="1230213"/>
          </a:xfrm>
          <a:prstGeom prst="roundRect">
            <a:avLst>
              <a:gd name="adj" fmla="val 564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5005" y="5078611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Falta de Prueba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05005" y="5436295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elector no recibe comprobante verificable tras presionar "Votar", generando desconfianza e impugnaciones.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Ficha Técnica: Los Cuatro Pilares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283990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Nuestra arquitectura resuelve los problemas estructurales del voto electrónico mediante cuatro garantías independientes que protegen cada dimensión del proceso electoral.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981200"/>
            <a:ext cx="10868745" cy="4423073"/>
          </a:xfrm>
          <a:prstGeom prst="roundRect">
            <a:avLst>
              <a:gd name="adj" fmla="val 154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454176"/>
            <a:ext cx="10868745" cy="1017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440906"/>
            <a:ext cx="10868745" cy="1017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427637"/>
            <a:ext cx="10868745" cy="1017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5414367"/>
            <a:ext cx="10868745" cy="1017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622088" y="1981200"/>
            <a:ext cx="10175" cy="44230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53135" y="1981200"/>
            <a:ext cx="10175" cy="44230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809909" y="1981200"/>
            <a:ext cx="10175" cy="44230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30738" y="2090043"/>
            <a:ext cx="2235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Pilar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87977" y="2090043"/>
            <a:ext cx="32088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Problema Tradicional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19024" y="2090043"/>
            <a:ext cx="35345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Solución Implementada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75798" y="2090043"/>
            <a:ext cx="299494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Garantía para la Organización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0738" y="2559844"/>
            <a:ext cx="2235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Privacidad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87977" y="2559844"/>
            <a:ext cx="259926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voto y el elector se guardan en la misma tabla de la base de datos.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719024" y="2559844"/>
            <a:ext cx="292499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Aislamiento de Censo y Urna: dos bases de datos independientes sin relación foránea.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75798" y="2559844"/>
            <a:ext cx="238535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Secreto de voto completamente garantizado por diseño matemático.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0738" y="3546574"/>
            <a:ext cx="2235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Identidad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87977" y="3546574"/>
            <a:ext cx="259926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Suplantación de votantes por uso de contraseñas débiles o compartidas.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19024" y="3546574"/>
            <a:ext cx="292499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Doble Factor (2FA TOTP): código temporal dinámico vía Google o Microsoft Authenticator.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75798" y="3546574"/>
            <a:ext cx="238535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Intransferibilidad de credenciales y acceso seguro.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0738" y="4533305"/>
            <a:ext cx="2235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Integridad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87977" y="4533305"/>
            <a:ext cx="259926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Modificación de resultados por administradores o manipulación en servidor.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19024" y="4533305"/>
            <a:ext cx="292499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Cadena de Bloques Criptográfica: cada voto se ancla al hash del voto anterior (SHA-256).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75798" y="4533305"/>
            <a:ext cx="238535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Cualquier intento de alteración invalida toda la cadena pública.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0738" y="5520035"/>
            <a:ext cx="2235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Auditabilidad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787977" y="5520035"/>
            <a:ext cx="259926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Los votantes y veedores no pueden verificar el conteo final.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719024" y="5520035"/>
            <a:ext cx="292499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Verificador SHA-256 Abierto: consulta pública e instantánea del comprobante de votación.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975798" y="5520035"/>
            <a:ext cx="238535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Confianza total y eliminación de impugnaciones infundadas.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16074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Nuestra Arquitectura Desacoplada: Separación Estricta de Censo y Urna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614315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sistema opera en dos mundos completamente independientes, sin relación foránea entre ellos. Esta separación matemática garantiza que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nadie —ni siquiera los administradores— pueda vincular un voto con un votante.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594199"/>
            <a:ext cx="6296860" cy="2447727"/>
          </a:xfrm>
          <a:prstGeom prst="roundRect">
            <a:avLst>
              <a:gd name="adj" fmla="val 283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3600549"/>
            <a:ext cx="6284160" cy="1217513"/>
          </a:xfrm>
          <a:custGeom>
            <a:avLst/>
            <a:gdLst/>
            <a:ahLst/>
            <a:cxnLst/>
            <a:rect l="l" t="t" r="r" b="b"/>
            <a:pathLst>
              <a:path w="6284160" h="1217513">
                <a:moveTo>
                  <a:pt x="57887" y="0"/>
                </a:moveTo>
                <a:lnTo>
                  <a:pt x="6226273" y="0"/>
                </a:lnTo>
                <a:arcTo hR="57888" wR="57887" stAng="16200000" swAng="5400000"/>
                <a:lnTo>
                  <a:pt x="6284160" y="1217513"/>
                </a:lnTo>
                <a:lnTo>
                  <a:pt x="0" y="1217513"/>
                </a:lnTo>
                <a:lnTo>
                  <a:pt x="0" y="57888"/>
                </a:lnTo>
                <a:arcTo hR="57888" wR="57887" stAng="10800000" swAng="5400000"/>
                <a:close/>
              </a:path>
            </a:pathLst>
          </a:custGeom>
          <a:solidFill>
            <a:srgbClr val="3D3D42"/>
          </a:solidFill>
          <a:ln/>
        </p:spPr>
      </p:sp>
      <p:sp>
        <p:nvSpPr>
          <p:cNvPr id="7" name="Text 4"/>
          <p:cNvSpPr/>
          <p:nvPr/>
        </p:nvSpPr>
        <p:spPr>
          <a:xfrm>
            <a:off x="833119" y="3765848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Mundo 1 — Censo e Identidad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4123531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Valida documentos, contraseñas encriptadas con Bcrypt y tokens 2FA. Emite un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pase anónimo de un solo uso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sin revelar identidad al mundo 2.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7825" y="4818063"/>
            <a:ext cx="6284160" cy="1217513"/>
          </a:xfrm>
          <a:custGeom>
            <a:avLst/>
            <a:gdLst/>
            <a:ahLst/>
            <a:cxnLst/>
            <a:rect l="l" t="t" r="r" b="b"/>
            <a:pathLst>
              <a:path w="6284160" h="1217513">
                <a:moveTo>
                  <a:pt x="0" y="0"/>
                </a:moveTo>
                <a:lnTo>
                  <a:pt x="6284160" y="0"/>
                </a:lnTo>
                <a:lnTo>
                  <a:pt x="6284160" y="1159625"/>
                </a:lnTo>
                <a:arcTo hR="57888" wR="57887" stAng="0" swAng="5400000"/>
                <a:lnTo>
                  <a:pt x="57887" y="1217513"/>
                </a:lnTo>
                <a:arcTo hR="57888" wR="57887" stAng="5400000" swAng="5400000"/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4818063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</p:sp>
      <p:sp>
        <p:nvSpPr>
          <p:cNvPr id="11" name="Text 8"/>
          <p:cNvSpPr/>
          <p:nvPr/>
        </p:nvSpPr>
        <p:spPr>
          <a:xfrm>
            <a:off x="833119" y="4983361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Mundo 2 — Urna Digital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3119" y="5341045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Recibe el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token ciego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sella la papeleta en la cadena criptográfica sin conocer la identidad del votante. Registro inmutable e independiente.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47664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Flujo de Votación en 3 Pasos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241425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proceso de votación está diseñado para ser seguro, intuitivo y verificable, accesible desde cualquier dispositivo.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956693"/>
            <a:ext cx="3065783" cy="25266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67036" y="2080716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17704" y="2618184"/>
            <a:ext cx="26970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Autenticación Segura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17704" y="2975868"/>
            <a:ext cx="269709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Ingreso de Cédula y código dinámico generado en el Authenticator del teléfono. Validación con doble factor TOTP para garantizar que solo el titular legítimo pueda acceder.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4437" y="1956693"/>
            <a:ext cx="3065783" cy="25266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98113" y="2080716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648781" y="2618184"/>
            <a:ext cx="26970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Cabina Limpia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648781" y="2975868"/>
            <a:ext cx="269709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Selección intuitiva de candidatos o listas en una interfaz adaptada a computadores y móviles. El elector emite su voto en un entorno aislado y sin rastros de identidad.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648597"/>
            <a:ext cx="6296860" cy="17327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82574" y="4772620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5417704" y="5310088"/>
            <a:ext cx="59281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Sellado y Recibo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417704" y="5667772"/>
            <a:ext cx="592817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Generación instantánea del comprobante SHA-256 de 64 caracteres para el votante, que acredita que su papeleta fue recibida y sellada en la urna digital.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8213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Verificador Criptográfico Independiente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1106388"/>
            <a:ext cx="1382479" cy="204192"/>
          </a:xfrm>
          <a:prstGeom prst="roundRect">
            <a:avLst>
              <a:gd name="adj" fmla="val 22112"/>
            </a:avLst>
          </a:prstGeom>
          <a:solidFill>
            <a:srgbClr val="252528"/>
          </a:solidFill>
          <a:ln/>
        </p:spPr>
      </p:sp>
      <p:sp>
        <p:nvSpPr>
          <p:cNvPr id="4" name="Text 2"/>
          <p:cNvSpPr/>
          <p:nvPr/>
        </p:nvSpPr>
        <p:spPr>
          <a:xfrm>
            <a:off x="742038" y="1146671"/>
            <a:ext cx="1830937" cy="123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TRANSPARENCIA ACTIVA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64739" y="1433413"/>
            <a:ext cx="6023717" cy="4956373"/>
          </a:xfrm>
          <a:prstGeom prst="roundRect">
            <a:avLst>
              <a:gd name="adj" fmla="val 1952"/>
            </a:avLst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699078" y="1542554"/>
            <a:ext cx="5755040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Votante como Auditor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9078" y="1861641"/>
            <a:ext cx="5755040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Módulo de consulta abierta donde cualquier usuario ingresa su hash y confirma en </a:t>
            </a:r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milisegundos</a:t>
            </a:r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que su papeleta fue recibida, sellada y contabilizada en la urna, </a:t>
            </a:r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 romper su anonimato.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9078" y="2349401"/>
            <a:ext cx="5755040" cy="660698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Consulta pública e instantánea del comprobante de votación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Verificación sin necesidad de credenciales ni acceso administrativo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Elimina impugnaciones infundadas con prueba matemática irrefutable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5881" y="1556246"/>
            <a:ext cx="4710590" cy="4710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94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Módulos de Gestión y Escrutinio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7689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plataforma incluye paneles especializados para administradores y auditores, garantizando control total del proceso electoral y resultados consolidados en tiempo real.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92165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12282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 de Administración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4169966"/>
            <a:ext cx="348507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Configuración de listas, apertura con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Clave de Custodia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administración de credenciales del personal electoral. Control total del proceso desde una interfaz centralizada.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3192165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3213" y="3812282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 de Auditoría y Acta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53213" y="4169966"/>
            <a:ext cx="348517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Monitoreo de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bitácoras inmutables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escrutinio en tiempo real y descarga del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Acta Oficial de Cierre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al culminar la jornada electoral. Trazabilidad completa para veedores.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3192165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5050" y="3812282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Seguridad por Diseño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45050" y="4169966"/>
            <a:ext cx="348517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componente opera bajo principios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Zero-Trust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ninguna entidad tiene acceso privilegiado que comprometa la integridad del censo o la urna digital.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99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Respaldo Tecnológico e Infraestructura Cloud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57362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plataforma está construida con tecnologías de vanguardia desplegadas en infraestructura cloud global, garantizando disponibilidad, velocidad y seguridad en cada capa del sistema.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472630"/>
            <a:ext cx="10868745" cy="3475335"/>
          </a:xfrm>
          <a:prstGeom prst="roundRect">
            <a:avLst>
              <a:gd name="adj" fmla="val 199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957909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704630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451350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5198070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33317" y="2584549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04467" y="2584549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1241" y="2584549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Proveedor / Entorno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75203" y="2584549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Función Principal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3317" y="3066653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04467" y="3066653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React, TypeScript, Tailwind CSS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1241" y="3066653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Vercel (Edge Global Network)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75203" y="3066653"/>
            <a:ext cx="238337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Interfaz de usuario ultrarrápida, responsive y accesible.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317" y="3813373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04467" y="3813373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Node.js, Express, TypeScript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1241" y="3813373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Render (Web Service)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75203" y="3813373"/>
            <a:ext cx="238337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Lógica de negocio, validación criptográfica y control de roles.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317" y="4560094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Censo y Auth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04467" y="4560094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PostgreSQL, Bcrypt, TOTP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1241" y="4560094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Supabase (Proyecto 1)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75203" y="4560094"/>
            <a:ext cx="238337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Padrón electoral aislado y autenticación multifactor.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317" y="5306814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Urna Digital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04467" y="5306814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PostgreSQL, SHA-256 Ledger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1241" y="5306814"/>
            <a:ext cx="29929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Supabase (Proyecto 2)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75203" y="5306814"/>
            <a:ext cx="238337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Libro contable inmutable de votos y bitácora de auditoría.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06227"/>
            <a:ext cx="6296860" cy="952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Conclusiones y Retorno de Inversión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233360" y="1846163"/>
            <a:ext cx="3060623" cy="5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100%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5233360" y="2530872"/>
            <a:ext cx="306062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Confiable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33360" y="2853432"/>
            <a:ext cx="3060623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Eliminación de impugnaciones gracias a la prueba matemática de cada voto.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69597" y="1846163"/>
            <a:ext cx="3060623" cy="5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0€</a:t>
            </a:r>
            <a:endParaRPr lang="en-US" sz="3950" dirty="0"/>
          </a:p>
        </p:txBody>
      </p:sp>
      <p:sp>
        <p:nvSpPr>
          <p:cNvPr id="8" name="Text 5"/>
          <p:cNvSpPr/>
          <p:nvPr/>
        </p:nvSpPr>
        <p:spPr>
          <a:xfrm>
            <a:off x="8469597" y="2530872"/>
            <a:ext cx="306062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Ahorro Operativo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69597" y="2853432"/>
            <a:ext cx="3060623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Cero gastos en impresión de tarjetones, papelería o logística de transporte de urnas físicas.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1479" y="3914080"/>
            <a:ext cx="3060623" cy="5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&lt;1s</a:t>
            </a:r>
            <a:endParaRPr lang="en-US" sz="3950" dirty="0"/>
          </a:p>
        </p:txBody>
      </p:sp>
      <p:sp>
        <p:nvSpPr>
          <p:cNvPr id="11" name="Text 8"/>
          <p:cNvSpPr/>
          <p:nvPr/>
        </p:nvSpPr>
        <p:spPr>
          <a:xfrm>
            <a:off x="6851479" y="4598789"/>
            <a:ext cx="306062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Escrutinio Instantáneo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1479" y="4921349"/>
            <a:ext cx="3060623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Resultados finales consolidados en segundos tras el cierre de la jornada electoral.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33360" y="5548312"/>
            <a:ext cx="6296860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plataforma no solo moderniza el proceso electoral: lo transforma en un sistema </a:t>
            </a:r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matemáticamente verificable, económicamente eficiente y operativamente superior</a:t>
            </a:r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 cualquier alternativa convencional.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7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Propuesta Ejecutiva Consolidada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3617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Este documento consolida la propuesta completa de valor, la arquitectura técnica desacoplada, la experiencia del elector y el guion detallado para la presentación ejecutiva de la plataforma de votación digital inviolable.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51447"/>
            <a:ext cx="5351725" cy="1520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235795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Arquitectura Zero-Trust Sellado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2593479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Dos bases de datos independientes (Censo y Urna) sin relación foránea, garantizando el secreto del voto por diseño matemático.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051447"/>
            <a:ext cx="5351725" cy="1520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9037" y="2235795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Autenticación 2FA TOTP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39037" y="2593479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Código temporal dinámico vía Google o Microsoft Authenticator que elimina la suplantación de identidad y garantiza la intransferibilidad de credenciales.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36975"/>
            <a:ext cx="5351725" cy="15202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2017" y="3921323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Cadena Criptográfica SHA-256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22017" y="4279007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voto se ancla al hash del voto anterior. Cualquier intento de alteración invalida toda la cadena pública, haciendo la manipulación matemáticamente imposible.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3736975"/>
            <a:ext cx="5351725" cy="15202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39037" y="3921323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Verificador Abierto al Público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439037" y="4279007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Cualquier votante o veedor puede consultar su comprobante de 64 caracteres y confirmar en milisegundos que su voto fue contabilizado, sin romper el anonimato.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61475" y="5443240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3D3D4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69" y="5682952"/>
            <a:ext cx="206667" cy="1652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98731" y="5649813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Próximos pasos: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Demostración en vivo de la plataforma, configuración de entorno piloto y definición del cronograma de implementación para su organización.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0679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Modelo de Inversión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68586"/>
            <a:ext cx="10868745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propuesta se estructura como una inversión por fases, diseñada para alinear el inicio del proyecto con la entrega final y los resultados del proceso electoral. El valor total del servicio es de </a:t>
            </a:r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1.500.000 COP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con un esquema de pago claro y equilibrado.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05843"/>
            <a:ext cx="5389725" cy="6799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6414" y="1639987"/>
            <a:ext cx="5070646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Inicio del proyecto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46414" y="1883172"/>
            <a:ext cx="507064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50% por adelantado para activar el desarrollo y la implementación.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0396" y="1505843"/>
            <a:ext cx="5389825" cy="6799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5335" y="1639987"/>
            <a:ext cx="507074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Cierre post-elecciones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325335" y="1883172"/>
            <a:ext cx="507074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50% restante una vez finalizado el proceso electoral y entregada la solución.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61475" y="2319536"/>
            <a:ext cx="1086874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¿Qué incluye la inversión?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61475" y="2642989"/>
            <a:ext cx="1147833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Este valor cubre una solución completa de votación digital, con todos los componentes necesarios para su puesta en marcha, operación y validación posterior.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61475" y="2911773"/>
            <a:ext cx="53897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9265" y="3039566"/>
            <a:ext cx="513414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Desarrollo y despliegue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89265" y="3282752"/>
            <a:ext cx="513414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Construcción de la plataforma y publicación en un entorno listo para operar.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40396" y="2911773"/>
            <a:ext cx="53898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68186" y="3039566"/>
            <a:ext cx="5134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Seguridad e infraestructura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268186" y="3282752"/>
            <a:ext cx="5134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Configuración base para soportar una operación estable, protegida y confiable.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61475" y="3668216"/>
            <a:ext cx="53897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89265" y="3796010"/>
            <a:ext cx="513414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Autenticación 2FA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89265" y="4039195"/>
            <a:ext cx="513414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Sistema de doble verificación para reforzar el acceso de los usuarios.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140396" y="3668216"/>
            <a:ext cx="53898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68186" y="3796010"/>
            <a:ext cx="5134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Verificación criptográfica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268186" y="4039195"/>
            <a:ext cx="5134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Módulo para validar el registro y la trazabilidad del voto.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61475" y="4424660"/>
            <a:ext cx="53897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89265" y="4552454"/>
            <a:ext cx="513414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Paneles administrativos y de auditoría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89265" y="4795639"/>
            <a:ext cx="513414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Herramientas para supervisar la operación y revisar el proceso con claridad.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140396" y="4424660"/>
            <a:ext cx="53898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68186" y="4552454"/>
            <a:ext cx="5134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Cloud, capacitación y soporte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268186" y="4795639"/>
            <a:ext cx="5134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Configuración en la nube, acompañamiento al equipo y apoyo durante la implementación.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61475" y="5181104"/>
            <a:ext cx="1086874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9265" y="5308898"/>
            <a:ext cx="1061316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Verificación post-electoral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789265" y="5552083"/>
            <a:ext cx="1061316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Recursos para confirmar resultados y respaldar la transparencia después del proceso.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61475" y="5948660"/>
            <a:ext cx="10868745" cy="398661"/>
          </a:xfrm>
          <a:prstGeom prst="roundRect">
            <a:avLst>
              <a:gd name="adj" fmla="val 12796"/>
            </a:avLst>
          </a:prstGeom>
          <a:solidFill>
            <a:srgbClr val="3D3D42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16" y="6076255"/>
            <a:ext cx="151801" cy="12144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056157" y="6068219"/>
            <a:ext cx="10962207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Una inversión de </a:t>
            </a:r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1.500.000 COP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cubre el alcance completo necesario para una solución digital de votación, sin fragmentar el servicio en componentes aislados.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2026-08-25T01:26:00Z</dcterms:created>
  <dcterms:modified xsi:type="dcterms:W3CDTF">2026-08-25T01:26:00Z</dcterms:modified>
</cp:coreProperties>
</file>